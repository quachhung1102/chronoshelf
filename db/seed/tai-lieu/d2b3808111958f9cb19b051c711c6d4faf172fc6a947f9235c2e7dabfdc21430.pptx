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A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852160" y="0"/>
            <a:ext cx="6336792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109728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400" kern="0" dirty="0">
                <a:solidFill>
                  <a:srgbClr val="F0C4B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BÀI GIẢNG · LỊCH SỬ 10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640080" y="1645920"/>
            <a:ext cx="493776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4000" dirty="0">
                <a:solidFill>
                  <a:srgbClr val="F6F7F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Chiến thắng Bạch Đằng năm 938</a:t>
            </a:r>
            <a:endParaRPr lang="en-US" sz="4000" dirty="0"/>
          </a:p>
        </p:txBody>
      </p:sp>
      <p:sp>
        <p:nvSpPr>
          <p:cNvPr id="5" name="Shape 2"/>
          <p:cNvSpPr/>
          <p:nvPr/>
        </p:nvSpPr>
        <p:spPr>
          <a:xfrm>
            <a:off x="640080" y="4206240"/>
            <a:ext cx="1097280" cy="0"/>
          </a:xfrm>
          <a:prstGeom prst="line">
            <a:avLst/>
          </a:prstGeom>
          <a:noFill/>
          <a:ln w="38100">
            <a:solidFill>
              <a:srgbClr val="B3311C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40080" y="4434840"/>
            <a:ext cx="49377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DDE2E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Ngô Quyền và trận địa cọc ngầm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640080" y="6126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DE2E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Cửa Sổ Lịch Sử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3311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01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585216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dirty="0">
                <a:solidFill>
                  <a:srgbClr val="0A1A33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Trước giờ quyết định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914400" cy="0"/>
          </a:xfrm>
          <a:prstGeom prst="line">
            <a:avLst/>
          </a:prstGeom>
          <a:noFill/>
          <a:ln w="25400">
            <a:solidFill>
              <a:srgbClr val="0A1A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2103120"/>
            <a:ext cx="566928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800" dirty="0">
                <a:solidFill>
                  <a:srgbClr val="1E2D4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905: Khúc Thừa Dụ giành quyền tự chủ</a:t>
            </a:r>
            <a:endParaRPr lang="en-US" sz="1800" dirty="0"/>
          </a:p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800" dirty="0">
                <a:solidFill>
                  <a:srgbClr val="1E2D4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931: Dương Đình Nghệ đánh đuổi quân Nam Hán</a:t>
            </a:r>
            <a:endParaRPr lang="en-US" sz="1800" dirty="0"/>
          </a:p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800" dirty="0">
                <a:solidFill>
                  <a:srgbClr val="1E2D4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937: Kiều Công Tiễn giết Dương Đình Nghệ, cầu cứu nhà Nam Hán</a:t>
            </a:r>
            <a:endParaRPr lang="en-US" sz="1800" dirty="0"/>
          </a:p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800" dirty="0">
                <a:solidFill>
                  <a:srgbClr val="1E2D4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Ngô Quyền từ Ái Châu kéo quân ra Bắc trị tội kẻ phản bội</a:t>
            </a:r>
            <a:endParaRPr lang="en-US" sz="18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675120" y="548640"/>
            <a:ext cx="4965192" cy="4846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675120" y="5486400"/>
            <a:ext cx="4965192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606D8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Sông Bạch Đằng đoạn gần Đình Vũ (Hải Phòng) ngày nay, vùng cửa sông nơi diễn ra trận đánh.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3311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02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585216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dirty="0">
                <a:solidFill>
                  <a:srgbClr val="0A1A33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Trận địa cọc ngầm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914400" cy="0"/>
          </a:xfrm>
          <a:prstGeom prst="line">
            <a:avLst/>
          </a:prstGeom>
          <a:noFill/>
          <a:ln w="25400">
            <a:solidFill>
              <a:srgbClr val="0A1A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2103120"/>
            <a:ext cx="566928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800" dirty="0">
                <a:solidFill>
                  <a:srgbClr val="1E2D4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Chọn sông Bạch Đằng làm nơi quyết chiến</a:t>
            </a:r>
            <a:endParaRPr lang="en-US" sz="1800" dirty="0"/>
          </a:p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800" dirty="0">
                <a:solidFill>
                  <a:srgbClr val="1E2D4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Cọc gỗ lớn vót nhọn, bịt sắt, đóng ngầm gần cửa biển</a:t>
            </a:r>
            <a:endParaRPr lang="en-US" sz="1800" dirty="0"/>
          </a:p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800" dirty="0">
                <a:solidFill>
                  <a:srgbClr val="1E2D4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Triều lên: bãi cọc chìm hẳn, thuyền địch không hay biết</a:t>
            </a:r>
            <a:endParaRPr lang="en-US" sz="1800" dirty="0"/>
          </a:p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800" dirty="0">
                <a:solidFill>
                  <a:srgbClr val="1E2D4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Cả kế hoạch tính theo con nước</a:t>
            </a:r>
            <a:endParaRPr lang="en-US" sz="18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675120" y="548640"/>
            <a:ext cx="4965192" cy="4846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675120" y="5486400"/>
            <a:ext cx="4965192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606D8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Bãi cọc nhọn tái hiện ở cửa sông Bạch Đằng, mô phỏng trận địa cọc ngầm.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3311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03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585216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dirty="0">
                <a:solidFill>
                  <a:srgbClr val="0A1A33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Nước rút, thuyền tan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914400" cy="0"/>
          </a:xfrm>
          <a:prstGeom prst="line">
            <a:avLst/>
          </a:prstGeom>
          <a:noFill/>
          <a:ln w="25400">
            <a:solidFill>
              <a:srgbClr val="0A1A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2103120"/>
            <a:ext cx="566928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800" dirty="0">
                <a:solidFill>
                  <a:srgbClr val="1E2D4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Cuối 938: Lưu Hoằng Tháo dẫn thủy quân vào sông</a:t>
            </a:r>
            <a:endParaRPr lang="en-US" sz="1800" dirty="0"/>
          </a:p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800" dirty="0">
                <a:solidFill>
                  <a:srgbClr val="1E2D4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Triều lên: thuyền nhẹ khiêu chiến, giả thua, nhử địch qua bãi cọc</a:t>
            </a:r>
            <a:endParaRPr lang="en-US" sz="1800" dirty="0"/>
          </a:p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800" dirty="0">
                <a:solidFill>
                  <a:srgbClr val="1E2D4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Nước rút: phản công từ hai bờ và thượng nguồn</a:t>
            </a:r>
            <a:endParaRPr lang="en-US" sz="1800" dirty="0"/>
          </a:p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800" dirty="0">
                <a:solidFill>
                  <a:srgbClr val="1E2D4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Thuyền giặc đâm cọc, vỡ, đắm; Lưu Hoằng Tháo tử trận</a:t>
            </a:r>
            <a:endParaRPr lang="en-US" sz="18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675120" y="548640"/>
            <a:ext cx="4965192" cy="4846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675120" y="5486400"/>
            <a:ext cx="4965192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606D8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Mô hình trận Bạch Đằng năm 938 tại Bảo tàng Lịch sử Quốc gia (Hà Nội): thuyền Nam Hán mắc cọc.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A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F6F7F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Ghi nhớ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16459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0C4B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1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80160" y="1645920"/>
            <a:ext cx="102412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F6F7F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Kiều Công Tiễn cầu viện Nam Hán năm 937 là cái cớ để quân xâm lược tiến vào.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640080" y="27889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0C4B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2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280160" y="2788920"/>
            <a:ext cx="102412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F6F7F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Ngô Quyền đóng cọc gỗ bịt sắt ngầm dưới lòng sông Bạch Đằng, giấu kín theo con nước.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640080" y="39319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0C4B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3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280160" y="3931920"/>
            <a:ext cx="102412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F6F7F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Quân ta nhử địch qua bãi cọc lúc triều lên rồi phản công khi nước rút; Lưu Hoằng Tháo tử trận.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640080" y="50749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0C4B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4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280160" y="5074920"/>
            <a:ext cx="102412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F6F7F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Chiến thắng năm 938 chấm dứt hơn một nghìn năm Bắc thuộc, mở ra thời kỳ độc lập tự chủ.</a:t>
            </a:r>
            <a:endParaRPr lang="en-US" sz="1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3836" y="228600"/>
            <a:ext cx="10241280" cy="64008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40080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0A1A33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Thảo luận nhóm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1737360"/>
            <a:ext cx="1078992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800"/>
              </a:spcAft>
              <a:buSzPct val="100000"/>
              <a:buFont typeface="+mj-lt"/>
              <a:buAutoNum type="arabicPeriod" startAt="1"/>
            </a:pPr>
            <a:r>
              <a:rPr lang="en-US" sz="2000" dirty="0">
                <a:solidFill>
                  <a:srgbClr val="1E2D4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Vì sao Ngô Quyền chọn đúng sông Bạch Đằng và đúng con nước để đánh?</a:t>
            </a:r>
            <a:endParaRPr lang="en-US" sz="2000" dirty="0"/>
          </a:p>
          <a:p>
            <a:pPr marL="342900" indent="-342900">
              <a:spcAft>
                <a:spcPts val="1800"/>
              </a:spcAft>
              <a:buSzPct val="100000"/>
              <a:buFont typeface="+mj-lt"/>
              <a:buAutoNum type="arabicPeriod" startAt="1"/>
            </a:pPr>
            <a:r>
              <a:rPr lang="en-US" sz="2000" dirty="0">
                <a:solidFill>
                  <a:srgbClr val="1E2D4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Kế nhử địch lúc triều lên rồi phản công khi nước rút cho thấy điều gì về cách đánh của ta?</a:t>
            </a:r>
            <a:endParaRPr lang="en-US" sz="2000" dirty="0"/>
          </a:p>
          <a:p>
            <a:pPr marL="342900" indent="-342900">
              <a:spcAft>
                <a:spcPts val="1800"/>
              </a:spcAft>
              <a:buSzPct val="100000"/>
              <a:buFont typeface="+mj-lt"/>
              <a:buAutoNum type="arabicPeriod" startAt="1"/>
            </a:pPr>
            <a:r>
              <a:rPr lang="en-US" sz="2000" dirty="0">
                <a:solidFill>
                  <a:srgbClr val="1E2D4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Vì sao năm 938 được coi là mốc chấm dứt hơn một nghìn năm Bắc thuộc?</a:t>
            </a:r>
            <a:endParaRPr lang="en-US" sz="2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A1A33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Nguồn ảnh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40080" y="1280160"/>
            <a:ext cx="10972800" cy="5120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1E2D4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Ảnh bìa: Unknown artisan from the village of Dong Ho. · Public domain · Wikimedia Commons — https://commons.wikimedia.org/wiki/File:Ng%C3%B4_Quy%E1%BB%81n_%C4%91%E1%BA%A1i_ph%C3%A1_qu%C3%A2n_Nam_H%C3%A1n_tr%C3%AAn_s%C3%B4ng_B%E1%BA%A1ch_%C4%90%E1%BA%B1ng.jpg</a:t>
            </a:r>
            <a:endParaRPr lang="en-US" sz="11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1E2D4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Trang 1: Viethavvh at vi.wikipedia · Public domain · Wikimedia Commons — https://commons.wikimedia.org/wiki/File:Cua_song_Bach_Dang.JPG</a:t>
            </a:r>
            <a:endParaRPr lang="en-US" sz="11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1E2D4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Trang 2: Goodmorninghpvn at Vietnamese Wikipedia · Public domain · Wikimedia Commons — https://commons.wikimedia.org/wiki/File:B%C3%A3i_c%E1%BB%8Dc_c%E1%BB%ADa_s%C3%B4ng_B%E1%BA%A1ch_%C4%90%E1%BA%B1ng.jpg</a:t>
            </a:r>
            <a:endParaRPr lang="en-US" sz="11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1E2D4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Trang 3: Daderot · CC0 · Wikimedia Commons — https://commons.wikimedia.org/wiki/File:Model_of_Battle_in_Bach_Dang_River_in_938_AD_-_DSC05544.JPG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Chiến thắng Bạch Đằng năm 938</dc:title>
  <dc:subject>PptxGenJS Presentation</dc:subject>
  <dc:creator>PptxGenJS</dc:creator>
  <cp:lastModifiedBy>PptxGenJS</cp:lastModifiedBy>
  <cp:revision>1</cp:revision>
  <dcterms:created xsi:type="dcterms:W3CDTF">2026-10-18T20:28:13Z</dcterms:created>
  <dcterms:modified xsi:type="dcterms:W3CDTF">2026-10-18T20:28:13Z</dcterms:modified>
</cp:coreProperties>
</file>